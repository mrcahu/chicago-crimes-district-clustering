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cc6cd01c374433" /><Relationship Type="http://schemas.openxmlformats.org/officeDocument/2006/relationships/extended-properties" Target="/docProps/app.xml" Id="Red68a39d81fd4062" /><Relationship Type="http://schemas.openxmlformats.org/officeDocument/2006/relationships/officeDocument" Target="/ppt/presentation.xml" Id="R7047b5cce1c941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8f3e47b2544843"/>
  </p:sldMasterIdLst>
  <p:notesMasterIdLst>
    <p:notesMasterId xmlns:r="http://schemas.openxmlformats.org/officeDocument/2006/relationships" r:id="Rd0885a9d3361418c"/>
  </p:notesMasterIdLst>
  <p:sldIdLst>
    <p:sldId xmlns:r="http://schemas.openxmlformats.org/officeDocument/2006/relationships" id="256" r:id="R5576f4ba698d4f48"/>
    <p:sldId xmlns:r="http://schemas.openxmlformats.org/officeDocument/2006/relationships" id="257" r:id="R7ed5bbd3de6841ad"/>
    <p:sldId xmlns:r="http://schemas.openxmlformats.org/officeDocument/2006/relationships" id="258" r:id="R834e781ddada49e3"/>
    <p:sldId xmlns:r="http://schemas.openxmlformats.org/officeDocument/2006/relationships" id="259" r:id="R4e97468838c8459d"/>
    <p:sldId xmlns:r="http://schemas.openxmlformats.org/officeDocument/2006/relationships" id="260" r:id="Ra2d5ce5157f24c11"/>
    <p:sldId xmlns:r="http://schemas.openxmlformats.org/officeDocument/2006/relationships" id="261" r:id="R58b6b13311c4461d"/>
    <p:sldId xmlns:r="http://schemas.openxmlformats.org/officeDocument/2006/relationships" id="262" r:id="R5fb52875ac60474a"/>
    <p:sldId xmlns:r="http://schemas.openxmlformats.org/officeDocument/2006/relationships" id="263" r:id="R71e83b07c2804d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8346ec4914ba9" /><Relationship Type="http://schemas.openxmlformats.org/officeDocument/2006/relationships/slideMaster" Target="/ppt/slideMasters/slideMaster1.xml" Id="R078f3e47b2544843" /><Relationship Type="http://schemas.openxmlformats.org/officeDocument/2006/relationships/notesMaster" Target="/ppt/notesMasters/notesMaster1.xml" Id="Rd0885a9d3361418c" /><Relationship Type="http://schemas.openxmlformats.org/officeDocument/2006/relationships/presProps" Target="/ppt/presProps.xml" Id="R65957c9ae23e4c9b" /><Relationship Type="http://schemas.openxmlformats.org/officeDocument/2006/relationships/tableStyles" Target="/ppt/tableStyles.xml" Id="R7471a91ccaa24f5a" /><Relationship Type="http://schemas.openxmlformats.org/officeDocument/2006/relationships/slide" Target="/ppt/slides/slide1.xml" Id="R5576f4ba698d4f48" /><Relationship Type="http://schemas.openxmlformats.org/officeDocument/2006/relationships/slide" Target="/ppt/slides/slide2.xml" Id="R7ed5bbd3de6841ad" /><Relationship Type="http://schemas.openxmlformats.org/officeDocument/2006/relationships/slide" Target="/ppt/slides/slide3.xml" Id="R834e781ddada49e3" /><Relationship Type="http://schemas.openxmlformats.org/officeDocument/2006/relationships/slide" Target="/ppt/slides/slide4.xml" Id="R4e97468838c8459d" /><Relationship Type="http://schemas.openxmlformats.org/officeDocument/2006/relationships/slide" Target="/ppt/slides/slide5.xml" Id="Ra2d5ce5157f24c11" /><Relationship Type="http://schemas.openxmlformats.org/officeDocument/2006/relationships/slide" Target="/ppt/slides/slide6.xml" Id="R58b6b13311c4461d" /><Relationship Type="http://schemas.openxmlformats.org/officeDocument/2006/relationships/slide" Target="/ppt/slides/slide7.xml" Id="R5fb52875ac60474a" /><Relationship Type="http://schemas.openxmlformats.org/officeDocument/2006/relationships/slide" Target="/ppt/slides/slide8.xml" Id="R71e83b07c2804d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7f3598c5442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74a6bf3cb40f1" /><Relationship Type="http://schemas.openxmlformats.org/officeDocument/2006/relationships/notesMaster" Target="/ppt/notesMasters/notesMaster1.xml" Id="R3e72ecf07ae54c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6f6d256bbf4cf3" /><Relationship Type="http://schemas.openxmlformats.org/officeDocument/2006/relationships/notesMaster" Target="/ppt/notesMasters/notesMaster1.xml" Id="R17742b3672b54f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c7523c5df142ca" /><Relationship Type="http://schemas.openxmlformats.org/officeDocument/2006/relationships/notesMaster" Target="/ppt/notesMasters/notesMaster1.xml" Id="R8dc334eccd1447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48817f6c748af" /><Relationship Type="http://schemas.openxmlformats.org/officeDocument/2006/relationships/notesMaster" Target="/ppt/notesMasters/notesMaster1.xml" Id="R376f204ee86e43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b5b57e7aa440a1" /><Relationship Type="http://schemas.openxmlformats.org/officeDocument/2006/relationships/notesMaster" Target="/ppt/notesMasters/notesMaster1.xml" Id="R02fab20482c548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5705468f994f9b" /><Relationship Type="http://schemas.openxmlformats.org/officeDocument/2006/relationships/notesMaster" Target="/ppt/notesMasters/notesMaster1.xml" Id="Refaba2fd12a241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6083851f74453" /><Relationship Type="http://schemas.openxmlformats.org/officeDocument/2006/relationships/notesMaster" Target="/ppt/notesMasters/notesMaster1.xml" Id="R34867774e38f46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129d795e804b1c" /><Relationship Type="http://schemas.openxmlformats.org/officeDocument/2006/relationships/notesMaster" Target="/ppt/notesMasters/notesMaster1.xml" Id="Red10a9952e8b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Equipe: Mauro Roberto Barbosa Cahu, Pedro Paulo Sant'Anna Belo Ramos, Renato Vasconcellos Bittencourt Neto e Vinicius Dantas Batista da Silva. Fonte: https://github.com/MRCahu/chicago-crimes-district-clustering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CSV Chicago_Crimes_2012_to_2017.csv, currie32/crimes-in-chicago versão 1. Resultados reproduzidos no notebook e em resultados/. https://github.com/MRCahu/chicago-crimes-district-clustering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CSV Chicago_Crimes_2012_to_2017.csv, currie32/crimes-in-chicago versão 1. Resultados reproduzidos no notebook e em resultados/. https://github.com/MRCahu/chicago-crimes-district-clustering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Homicídios: a documentação oficial informa registros por vítima. https://data.cityofchicago.org/Public-Safety/Homicides/k9xv-yxzs . Denominador de cada proporção: todos os registros elegíveis do distrito. Valores: resultados/perfis_grupos.csv.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CSV Chicago_Crimes_2012_to_2017.csv, currie32/crimes-in-chicago versão 1. Resultados reproduzidos no notebook e em resultados/. https://github.com/MRCahu/chicago-crimes-district-clustering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Concordância = Adjusted Rand Index (ARI). Um significa mesma partição, ignorando numeração dos grupos. É comparação de soluções, não validação contra classes verdadeiras. Fonte: resultados/comparacao_ligacoes.csv, sensibilidade_homicidio.csv e manifesto_execucao.json.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CSV Chicago_Crimes_2012_to_2017.csv, currie32/crimes-in-chicago versão 1. Resultados reproduzidos no notebook e em resultados/. https://github.com/MRCahu/chicago-crimes-district-clustering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CSV Chicago_Crimes_2012_to_2017.csv, currie32/crimes-in-chicago versão 1. Resultados reproduzidos no notebook e em resultados/. https://github.com/MRCahu/chicago-crimes-district-clustering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e82c1874d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7d9f14d04a4458" /><Relationship Type="http://schemas.openxmlformats.org/officeDocument/2006/relationships/slideLayout" Target="/ppt/slideLayouts/slideLayout1.xml" Id="Rf5cc4c04451044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c4c04451044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95626644944c0" /><Relationship Type="http://schemas.openxmlformats.org/officeDocument/2006/relationships/notesSlide" Target="/ppt/notesSlides/notesSlide1.xml" Id="Rc81b2b1d01124b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3d9c2a2bf43cd" /><Relationship Type="http://schemas.openxmlformats.org/officeDocument/2006/relationships/notesSlide" Target="/ppt/notesSlides/notesSlide2.xml" Id="Rb2c87ddff5ef4f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6301cd8b24b90" /><Relationship Type="http://schemas.openxmlformats.org/officeDocument/2006/relationships/chart" Target="/ppt/slides/charts/chart1.xml" Id="Rdf2a889e060f4e12" /><Relationship Type="http://schemas.openxmlformats.org/officeDocument/2006/relationships/notesSlide" Target="/ppt/notesSlides/notesSlide3.xml" Id="R8bcc7f75742648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a81d8e8fb40f3" /><Relationship Type="http://schemas.openxmlformats.org/officeDocument/2006/relationships/chart" Target="/ppt/slides/charts/chart2.xml" Id="R22c48c03ff244290" /><Relationship Type="http://schemas.openxmlformats.org/officeDocument/2006/relationships/notesSlide" Target="/ppt/notesSlides/notesSlide4.xml" Id="R6cce57508a7443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31f7eac3f4528" /><Relationship Type="http://schemas.openxmlformats.org/officeDocument/2006/relationships/notesSlide" Target="/ppt/notesSlides/notesSlide5.xml" Id="R3ae779592e0045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275c5b7344fc5" /><Relationship Type="http://schemas.openxmlformats.org/officeDocument/2006/relationships/notesSlide" Target="/ppt/notesSlides/notesSlide6.xml" Id="R6b78bf8bd4ad41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d74ade8e64bb5" /><Relationship Type="http://schemas.openxmlformats.org/officeDocument/2006/relationships/notesSlide" Target="/ppt/notesSlides/notesSlide7.xml" Id="Ra9cda263377941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aafa651084249" /><Relationship Type="http://schemas.openxmlformats.org/officeDocument/2006/relationships/notesSlide" Target="/ppt/notesSlides/notesSlide8.xml" Id="R10079d2b275440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Grupo 1 (8 distritos)</c:v>
          </c:tx>
          <c:spPr>
            <a:solidFill xmlns:a="http://schemas.openxmlformats.org/drawingml/2006/main">
              <a:srgbClr val="406882"/>
            </a:solidFill>
          </c:spPr>
          <c:cat>
            <c:strRef>
              <c:f>'Chart Data'!$A$2:$A$4</c:f>
              <c:strCache>
                <c:ptCount val="3"/>
                <c:pt idx="0">
                  <c:v>Furto (THEFT)</c:v>
                </c:pt>
                <c:pt idx="1">
                  <c:v>BATTERY</c:v>
                </c:pt>
                <c:pt idx="2">
                  <c:v>Doméstico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0.340563</c:v>
                </c:pt>
                <c:pt idx="1">
                  <c:v>0.139531</c:v>
                </c:pt>
                <c:pt idx="2">
                  <c:v>0.087876</c:v>
                </c:pt>
              </c:numCache>
            </c:numRef>
          </c:val>
        </c:ser>
        <c:ser>
          <c:idx val="1"/>
          <c:order val="1"/>
          <c:tx>
            <c:v>Grupo 2 (14 distritos)</c:v>
          </c:tx>
          <c:spPr>
            <a:solidFill xmlns:a="http://schemas.openxmlformats.org/drawingml/2006/main">
              <a:srgbClr val="B07C38"/>
            </a:solidFill>
          </c:spPr>
          <c:cat>
            <c:strRef>
              <c:f>'Chart Data'!$C$2:$C$4</c:f>
              <c:strCache>
                <c:ptCount val="3"/>
                <c:pt idx="0">
                  <c:v>Furto (THEFT)</c:v>
                </c:pt>
                <c:pt idx="1">
                  <c:v>BATTERY</c:v>
                </c:pt>
                <c:pt idx="2">
                  <c:v>Doméstico</c:v>
                </c:pt>
              </c:strCache>
            </c:strRef>
          </c:cat>
          <c:val>
            <c:numRef>
              <c:f>'Chart Data'!$D$2:$D$4</c:f>
              <c:numCache>
                <c:formatCode>0.0%</c:formatCode>
                <c:ptCount val="3"/>
                <c:pt idx="0">
                  <c:v>0.177099</c:v>
                </c:pt>
                <c:pt idx="1">
                  <c:v>0.200091</c:v>
                </c:pt>
                <c:pt idx="2">
                  <c:v>0.178471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B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Grupo 1</c:v>
          </c:tx>
          <c:spPr>
            <a:solidFill xmlns:a="http://schemas.openxmlformats.org/drawingml/2006/main">
              <a:srgbClr val="406882"/>
            </a:solidFill>
          </c:spPr>
          <c:cat>
            <c:strRef>
              <c:f>'Chart Data'!$A$2:$A$6</c:f>
              <c:strCache>
                <c:ptCount val="5"/>
                <c:pt idx="0">
                  <c:v>Narcóticos</c:v>
                </c:pt>
                <c:pt idx="1">
                  <c:v>ASSAULT</c:v>
                </c:pt>
                <c:pt idx="2">
                  <c:v>Roubo</c:v>
                </c:pt>
                <c:pt idx="3">
                  <c:v>Homicídio*</c:v>
                </c:pt>
                <c:pt idx="4">
                  <c:v>Com prisão</c:v>
                </c:pt>
              </c:strCache>
            </c:strRef>
          </c:cat>
          <c:val>
            <c:numRef>
              <c:f>'Chart Data'!$B$2:$B$6</c:f>
              <c:numCache>
                <c:formatCode>0.00%</c:formatCode>
                <c:ptCount val="5"/>
                <c:pt idx="0">
                  <c:v>0.041166</c:v>
                </c:pt>
                <c:pt idx="1">
                  <c:v>0.047848</c:v>
                </c:pt>
                <c:pt idx="2">
                  <c:v>0.029898</c:v>
                </c:pt>
                <c:pt idx="3">
                  <c:v>0.000719</c:v>
                </c:pt>
                <c:pt idx="4">
                  <c:v>0.197494</c:v>
                </c:pt>
              </c:numCache>
            </c:numRef>
          </c:val>
        </c:ser>
        <c:ser>
          <c:idx val="1"/>
          <c:order val="1"/>
          <c:tx>
            <c:v>Grupo 2</c:v>
          </c:tx>
          <c:spPr>
            <a:solidFill xmlns:a="http://schemas.openxmlformats.org/drawingml/2006/main">
              <a:srgbClr val="B07C38"/>
            </a:solidFill>
          </c:spPr>
          <c:cat>
            <c:strRef>
              <c:f>'Chart Data'!$C$2:$C$6</c:f>
              <c:strCache>
                <c:ptCount val="5"/>
                <c:pt idx="0">
                  <c:v>Narcóticos</c:v>
                </c:pt>
                <c:pt idx="1">
                  <c:v>ASSAULT</c:v>
                </c:pt>
                <c:pt idx="2">
                  <c:v>Roubo</c:v>
                </c:pt>
                <c:pt idx="3">
                  <c:v>Homicídio*</c:v>
                </c:pt>
                <c:pt idx="4">
                  <c:v>Com prisão</c:v>
                </c:pt>
              </c:strCache>
            </c:strRef>
          </c:cat>
          <c:val>
            <c:numRef>
              <c:f>'Chart Data'!$D$2:$D$6</c:f>
              <c:numCache>
                <c:formatCode>0.00%</c:formatCode>
                <c:ptCount val="5"/>
                <c:pt idx="0">
                  <c:v>0.109535</c:v>
                </c:pt>
                <c:pt idx="1">
                  <c:v>0.06964</c:v>
                </c:pt>
                <c:pt idx="2">
                  <c:v>0.042915</c:v>
                </c:pt>
                <c:pt idx="3">
                  <c:v>0.002249</c:v>
                </c:pt>
                <c:pt idx="4">
                  <c:v>0.278463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B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3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D4B2C-8E2B-49CC-8E58-F32F40B5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Perfis criminais dos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distritos de Chicago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ABD12-AE88-4106-93DD-D6642552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ED6F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ED6F1"/>
                </a:solidFill>
                <a:latin typeface="Arial"/>
                <a:ea typeface="Arial"/>
                <a:cs typeface="Arial"/>
              </a:rPr>
              <a:t>Recomendações para o CEO</a:t>
            </a:r>
          </a:p>
          <a:p xmlns:a="http://schemas.openxmlformats.org/drawingml/2006/main">
            <a:pPr>
              <a:defRPr sz="2550" b="0">
                <a:solidFill>
                  <a:srgbClr val="AED6F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ED6F1"/>
                </a:solidFill>
                <a:latin typeface="Arial"/>
                <a:ea typeface="Arial"/>
                <a:cs typeface="Arial"/>
              </a:rPr>
              <a:t>Análise acadêmica para formular hipóteses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CF8D5-75C9-4839-8F45-5066CEBE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Equipe 04 / CESAR School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2012–2017, com 2017 parcial</a:t>
            </a:r>
          </a:p>
        </p:txBody>
      </p:sp>
    </p:spTree>
    <p:extLst>
      <p:ext uri="{BB962C8B-B14F-4D97-AF65-F5344CB8AC3E}">
        <p14:creationId xmlns:p14="http://schemas.microsoft.com/office/powerpoint/2010/main" val="1332370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02056-B217-4C16-A459-6B210ECA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Pergunta e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5CABE-D7A3-49E1-9304-8CA78F35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Quais distritos têm composições semelhantes dos registros criminais?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BC969-6AFA-48CB-A788-2645F823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6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674"/>
                </a:solidFill>
                <a:latin typeface="Arial"/>
                <a:ea typeface="Arial"/>
                <a:cs typeface="Arial"/>
              </a:rPr>
              <a:t>Equipe 04 / CESAR School     Chicago 2012–2017 (2017 parcial)  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81E90-BB46-47F5-B9F8-AE001E0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40688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06882"/>
                </a:solidFill>
                <a:latin typeface="Arial"/>
                <a:ea typeface="Arial"/>
                <a:cs typeface="Arial"/>
              </a:rPr>
              <a:t>1.456.686 registros elegíveis</a:t>
            </a:r>
          </a:p>
          <a:p xmlns:a="http://schemas.openxmlformats.org/drawingml/2006/main">
            <a:pPr>
              <a:defRPr sz="2625" b="1">
                <a:solidFill>
                  <a:srgbClr val="40688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06882"/>
                </a:solidFill>
                <a:latin typeface="Arial"/>
                <a:ea typeface="Arial"/>
                <a:cs typeface="Arial"/>
              </a:rPr>
              <a:t>22 distritos analisados</a:t>
            </a:r>
          </a:p>
          <a:p xmlns:a="http://schemas.openxmlformats.org/drawingml/2006/main">
            <a:pPr>
              <a:defRPr sz="2625" b="1">
                <a:solidFill>
                  <a:srgbClr val="40688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06882"/>
                </a:solidFill>
                <a:latin typeface="Arial"/>
                <a:ea typeface="Arial"/>
                <a:cs typeface="Arial"/>
              </a:rPr>
              <a:t>2 grupos com perfis distintos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5FEB3-2FE4-434E-AE82-DF0F8721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 comparação usa proporções dentro de cada distrito.</a:t>
            </a:r>
          </a:p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O volume e o código do distrito ficam fora do agrupamento.</a:t>
            </a:r>
          </a:p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 base histórica descreve registros e não mede risco por habitante.</a:t>
            </a:r>
          </a:p>
        </p:txBody>
      </p:sp>
    </p:spTree>
    <p:extLst>
      <p:ext uri="{BB962C8B-B14F-4D97-AF65-F5344CB8AC3E}">
        <p14:creationId xmlns:p14="http://schemas.microsoft.com/office/powerpoint/2010/main" val="1596729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32542-71B7-424E-9D78-6170CEA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Furto, BATTERY e registros domésticos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8FDFE-0C0D-4778-B1C3-3B777F97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Médias dos percentuais distritais, com o mesmo peso para cada distrito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7F4C6-E9C2-4F46-81A4-93FD92E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6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674"/>
                </a:solidFill>
                <a:latin typeface="Arial"/>
                <a:ea typeface="Arial"/>
                <a:cs typeface="Arial"/>
              </a:rPr>
              <a:t>Equipe 04 / CESAR School     Chicago 2012–2017 (2017 parcial)     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09625" y="2428875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2a889e060f4e1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9041D-1E54-4C85-8899-9BAD87CE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57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Doméstico se sobrepõe aos tipos de crime. Os três percentuais não formam um total de 100%.</a:t>
            </a:r>
          </a:p>
        </p:txBody>
      </p:sp>
    </p:spTree>
    <p:extLst>
      <p:ext uri="{BB962C8B-B14F-4D97-AF65-F5344CB8AC3E}">
        <p14:creationId xmlns:p14="http://schemas.microsoft.com/office/powerpoint/2010/main" val="1647440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A4281-1797-432C-BAD0-9808D75D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Os demais atributos do perfil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990DE-76CC-4EEA-8105-23EFC8D5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Mesma unidade: média dos percentuais dentro dos distritos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964F2-8D09-470D-9D10-3366D175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6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674"/>
                </a:solidFill>
                <a:latin typeface="Arial"/>
                <a:ea typeface="Arial"/>
                <a:cs typeface="Arial"/>
              </a:rPr>
              <a:t>Equipe 04 / CESAR School     Chicago 2012–2017 (2017 parcial)     4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09625" y="2428875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c48c03ff24429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6A2B7-5341-4958-8921-E809C416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57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* Homicídio = registros/vítimas. Com prisão indica o campo Arrest e não mede resolução de casos.</a:t>
            </a:r>
          </a:p>
        </p:txBody>
      </p:sp>
    </p:spTree>
    <p:extLst>
      <p:ext uri="{BB962C8B-B14F-4D97-AF65-F5344CB8AC3E}">
        <p14:creationId xmlns:p14="http://schemas.microsoft.com/office/powerpoint/2010/main" val="1057510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17142-4269-48C6-9DAE-F97948A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Distritos de cada grupo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1EE35-FFCF-4888-A4A9-112B743C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6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674"/>
                </a:solidFill>
                <a:latin typeface="Arial"/>
                <a:ea typeface="Arial"/>
                <a:cs typeface="Arial"/>
              </a:rPr>
              <a:t>Equipe 04 / CESAR School     Chicago 2012–2017 (2017 parcial)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33304-CF9D-4FF2-9093-679D1FC2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688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06882"/>
                </a:solidFill>
                <a:latin typeface="Arial"/>
                <a:ea typeface="Arial"/>
                <a:cs typeface="Arial"/>
              </a:rPr>
              <a:t>Grupo 1: 8 distritos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EDB81-B6F6-45CB-B996-2A878EC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1, 12, 14, 16, 17, 18, 19, 20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52667-46AA-4CD8-B3BD-49B50D4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07C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07C38"/>
                </a:solidFill>
                <a:latin typeface="Arial"/>
                <a:ea typeface="Arial"/>
                <a:cs typeface="Arial"/>
              </a:rPr>
              <a:t>Grupo 2: 14 distritos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583F0-4CB7-4743-AC5F-3373A1E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2, 3, 4, 5, 6, 7, 8, 9, 10, 11, 15, 22, 24, 25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81CA3-DC2A-4CDE-9D4A-5328872E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Distritos perto da fronteira entre grupos requerem interpretação individual.</a:t>
            </a:r>
          </a:p>
        </p:txBody>
      </p:sp>
    </p:spTree>
    <p:extLst>
      <p:ext uri="{BB962C8B-B14F-4D97-AF65-F5344CB8AC3E}">
        <p14:creationId xmlns:p14="http://schemas.microsoft.com/office/powerpoint/2010/main" val="772997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E8D82-E2FA-4A2C-89FA-FF2AE707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Estabilidade da divisão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021C-F9A1-47EB-9399-B6C96CA0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Silhouette favorece 2 grupos. Davies–Bouldin favorece 3 (0,6724).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1399D-0F02-41CD-A682-BCD0BF6B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6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674"/>
                </a:solidFill>
                <a:latin typeface="Arial"/>
                <a:ea typeface="Arial"/>
                <a:cs typeface="Arial"/>
              </a:rPr>
              <a:t>Equipe 04 / CESAR School     Chicago 2012–2017 (2017 parcial)   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38159-F51B-453F-9C71-812EB472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Melhor corte Ward: 2 grupos</a:t>
            </a:r>
          </a:p>
          <a:p xmlns:a="http://schemas.openxmlformats.org/drawingml/2006/main">
            <a:pPr>
              <a:defRPr sz="23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Silhouette: 0.4671 (maior é melhor)</a:t>
            </a:r>
          </a:p>
          <a:p xmlns:a="http://schemas.openxmlformats.org/drawingml/2006/main">
            <a:pPr>
              <a:defRPr sz="23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Davies–Bouldin: 0.7575 (menor é melhor)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1942B-7590-4CDF-8BCF-EB90E31C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Ward: concordância com Ward = 1.000</a:t>
            </a:r>
          </a:p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Average: concordância com Ward = 1.000</a:t>
            </a:r>
          </a:p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Complete: concordância com Ward = 1.000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0FED1-0933-4775-A942-DE74CF89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Sem homicídios: concordância = 1.000</a:t>
            </a:r>
          </a:p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Sem 2017 parcial: concordância = 1.000</a:t>
            </a:r>
          </a:p>
        </p:txBody>
      </p:sp>
    </p:spTree>
    <p:extLst>
      <p:ext uri="{BB962C8B-B14F-4D97-AF65-F5344CB8AC3E}">
        <p14:creationId xmlns:p14="http://schemas.microsoft.com/office/powerpoint/2010/main" val="1203386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8D661-1030-4FD7-BE1B-77810D70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Hipóteses para a gestão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7DF57-2A83-4C13-B815-4894B68C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As diferenças observadas orientam perguntas e não estimam efeitos das 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E5923-58EC-4A19-B181-88C36FA3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6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674"/>
                </a:solidFill>
                <a:latin typeface="Arial"/>
                <a:ea typeface="Arial"/>
                <a:cs typeface="Arial"/>
              </a:rPr>
              <a:t>Equipe 04 / CESAR School     Chicago 2012–2017 (2017 parcial)   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579E2-3060-43F9-A99A-AA193FEE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068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06882"/>
                </a:solidFill>
                <a:latin typeface="Arial"/>
                <a:ea typeface="Arial"/>
                <a:cs typeface="Arial"/>
              </a:rPr>
              <a:t>Grupo 1: maior participação média de furto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BC0F2-FB7B-4369-8862-1A458D96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Investigar horários e locais dos registros para discutir medidas</a:t>
            </a:r>
          </a:p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de prevenção patrimonial com gestores e parceiros locais.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DA656-7605-4065-BD09-ABB141DA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07C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07C38"/>
                </a:solidFill>
                <a:latin typeface="Arial"/>
                <a:ea typeface="Arial"/>
                <a:cs typeface="Arial"/>
              </a:rPr>
              <a:t>Grupo 2: maior participação média de BATTERY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001DA-31D5-41F1-A26B-1FDD484F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Registros domésticos têm maior participação no grupo 2.</a:t>
            </a:r>
          </a:p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Investigar acolhimento, reincidência e acesso à rede de proteção.</a:t>
            </a:r>
          </a:p>
        </p:txBody>
      </p:sp>
    </p:spTree>
    <p:extLst>
      <p:ext uri="{BB962C8B-B14F-4D97-AF65-F5344CB8AC3E}">
        <p14:creationId xmlns:p14="http://schemas.microsoft.com/office/powerpoint/2010/main" val="1172309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2CEA4-002E-49B0-B27F-25A29BCA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Condições para discutir ações atuais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35216-63A3-4FE5-9A30-9C87B088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6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674"/>
                </a:solidFill>
                <a:latin typeface="Arial"/>
                <a:ea typeface="Arial"/>
                <a:cs typeface="Arial"/>
              </a:rPr>
              <a:t>Equipe 04 / CESAR School     Chicago 2012–2017 (2017 parcial)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A0902-C74E-4E35-8265-7EA99A1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688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06882"/>
                </a:solidFill>
                <a:latin typeface="Arial"/>
                <a:ea typeface="Arial"/>
                <a:cs typeface="Arial"/>
              </a:rPr>
              <a:t>Dados históricos e 2017 parcial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DC312-DF55-4151-9E9D-02BF4880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Atualizar a base e conferir mudanças dos limites dos distritos</a:t>
            </a:r>
          </a:p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antes de transportar os grupos para decisões atuais.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0600D-6AD3-4F0A-A111-0615305F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688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06882"/>
                </a:solidFill>
                <a:latin typeface="Arial"/>
                <a:ea typeface="Arial"/>
                <a:cs typeface="Arial"/>
              </a:rPr>
              <a:t>Informações adicionais para decisão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EA5A0-D236-49E4-A4CE-18391015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População e exposição, capacidade de atendimento e contexto local</a:t>
            </a:r>
          </a:p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ajudam a investigar as hipóteses. O agrupamento não prova causas</a:t>
            </a:r>
          </a:p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e não prevê criminalidade futura.</a:t>
            </a:r>
          </a:p>
        </p:txBody>
      </p:sp>
    </p:spTree>
    <p:extLst>
      <p:ext uri="{BB962C8B-B14F-4D97-AF65-F5344CB8AC3E}">
        <p14:creationId xmlns:p14="http://schemas.microsoft.com/office/powerpoint/2010/main" val="439493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2026-10-01T23:22:37.7920000Z</dcterms:created>
  <dcterms:modified xsi:type="dcterms:W3CDTF">2026-10-01T23:22:37.7920000Z</dcterms:modified>
</coreProperties>
</file>